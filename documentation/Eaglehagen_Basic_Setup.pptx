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0689336" cy="7562088"/>
  <p:notesSz cx="7562088" cy="1068933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Teknosofen/EagleHagen" TargetMode="External"/><Relationship Id="rId2" Type="http://schemas.openxmlformats.org/officeDocument/2006/relationships/image" Target="../media/image-1-1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Teknosofen/EagleHagen" TargetMode="External"/><Relationship Id="rId2" Type="http://schemas.openxmlformats.org/officeDocument/2006/relationships/image" Target="../media/image-9-1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188720"/>
            <a:ext cx="6035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Eaglehagen CO₂ Monitor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92608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5292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Basic setup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guide to getting started with the monitor: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screen, web page, alarms, LabVIEW and the PC monitor page.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12064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Dr. Örnhagen  ·  September 2026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48640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documentation: </a:t>
            </a:r>
            <a:pPr indent="0" marL="0">
              <a:buNone/>
            </a:pPr>
            <a:r>
              <a:rPr lang="en-US" sz="1400" b="1" u="sng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github.com/Teknosofen/EagleHagen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900062" y="1047902"/>
            <a:ext cx="3015691" cy="5347411"/>
          </a:xfrm>
          <a:prstGeom prst="roundRect">
            <a:avLst>
              <a:gd name="adj" fmla="val 4548"/>
            </a:avLst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86600" y="1234440"/>
            <a:ext cx="2642616" cy="4974336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086600" y="1234440"/>
            <a:ext cx="264261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3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Ornhagen</a:t>
            </a:r>
            <a:endParaRPr lang="en-US" sz="1530" dirty="0"/>
          </a:p>
        </p:txBody>
      </p:sp>
      <p:sp>
        <p:nvSpPr>
          <p:cNvPr id="10" name="Shape 8"/>
          <p:cNvSpPr/>
          <p:nvPr/>
        </p:nvSpPr>
        <p:spPr>
          <a:xfrm>
            <a:off x="9387230" y="1389888"/>
            <a:ext cx="155448" cy="155448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179869" y="1731874"/>
            <a:ext cx="2456078" cy="174101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242048" y="3056291"/>
            <a:ext cx="233172" cy="0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7475220" y="2244852"/>
            <a:ext cx="62179" cy="811439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7537399" y="2076968"/>
            <a:ext cx="264262" cy="167884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01661" y="2076968"/>
            <a:ext cx="46634" cy="979322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48295" y="3056291"/>
            <a:ext cx="170993" cy="0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19288" y="3056291"/>
            <a:ext cx="233172" cy="0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8252460" y="2244852"/>
            <a:ext cx="62179" cy="811439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8314639" y="2076968"/>
            <a:ext cx="264262" cy="167884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78901" y="2076968"/>
            <a:ext cx="46634" cy="979322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25535" y="3056291"/>
            <a:ext cx="170993" cy="0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796528" y="3056291"/>
            <a:ext cx="233172" cy="0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9029700" y="2244852"/>
            <a:ext cx="62179" cy="811439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9091879" y="2076968"/>
            <a:ext cx="264262" cy="167884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56141" y="2076968"/>
            <a:ext cx="46634" cy="979322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402775" y="3056291"/>
            <a:ext cx="170993" cy="0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242048" y="3224174"/>
            <a:ext cx="1554480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CO2 Waveform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7179869" y="3566160"/>
            <a:ext cx="2456078" cy="683971"/>
          </a:xfrm>
          <a:prstGeom prst="roundRect">
            <a:avLst>
              <a:gd name="adj" fmla="val 8021"/>
            </a:avLst>
          </a:prstGeom>
          <a:solidFill>
            <a:srgbClr val="FFFFFF"/>
          </a:solidFill>
          <a:ln w="12700">
            <a:solidFill>
              <a:srgbClr val="CBD5D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273138" y="3628339"/>
            <a:ext cx="932688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5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FCO2</a:t>
            </a:r>
            <a:endParaRPr lang="en-US" sz="935" dirty="0"/>
          </a:p>
        </p:txBody>
      </p:sp>
      <p:sp>
        <p:nvSpPr>
          <p:cNvPr id="30" name="Text 28"/>
          <p:cNvSpPr txBox="1"/>
          <p:nvPr/>
        </p:nvSpPr>
        <p:spPr>
          <a:xfrm>
            <a:off x="7552944" y="3721608"/>
            <a:ext cx="139903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</a:t>
            </a:r>
            <a:endParaRPr lang="en-US" sz="2380" dirty="0"/>
          </a:p>
        </p:txBody>
      </p:sp>
      <p:sp>
        <p:nvSpPr>
          <p:cNvPr id="31" name="Text 29"/>
          <p:cNvSpPr txBox="1"/>
          <p:nvPr/>
        </p:nvSpPr>
        <p:spPr>
          <a:xfrm>
            <a:off x="8951976" y="3814877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kPa</a:t>
            </a:r>
            <a:endParaRPr lang="en-US" sz="1020" dirty="0"/>
          </a:p>
        </p:txBody>
      </p:sp>
      <p:sp>
        <p:nvSpPr>
          <p:cNvPr id="32" name="Shape 30"/>
          <p:cNvSpPr/>
          <p:nvPr/>
        </p:nvSpPr>
        <p:spPr>
          <a:xfrm>
            <a:off x="7179869" y="4343400"/>
            <a:ext cx="2456078" cy="683971"/>
          </a:xfrm>
          <a:prstGeom prst="roundRect">
            <a:avLst>
              <a:gd name="adj" fmla="val 8021"/>
            </a:avLst>
          </a:prstGeom>
          <a:solidFill>
            <a:srgbClr val="FFFFFF"/>
          </a:solidFill>
          <a:ln w="12700">
            <a:solidFill>
              <a:srgbClr val="CBD5D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273138" y="4405579"/>
            <a:ext cx="932688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5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O2</a:t>
            </a:r>
            <a:endParaRPr lang="en-US" sz="935" dirty="0"/>
          </a:p>
        </p:txBody>
      </p:sp>
      <p:sp>
        <p:nvSpPr>
          <p:cNvPr id="34" name="Text 32"/>
          <p:cNvSpPr txBox="1"/>
          <p:nvPr/>
        </p:nvSpPr>
        <p:spPr>
          <a:xfrm>
            <a:off x="7552944" y="4498848"/>
            <a:ext cx="139903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20.9</a:t>
            </a:r>
            <a:endParaRPr lang="en-US" sz="2380" dirty="0"/>
          </a:p>
        </p:txBody>
      </p:sp>
      <p:sp>
        <p:nvSpPr>
          <p:cNvPr id="35" name="Text 33"/>
          <p:cNvSpPr txBox="1"/>
          <p:nvPr/>
        </p:nvSpPr>
        <p:spPr>
          <a:xfrm>
            <a:off x="8951976" y="4592117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020" dirty="0"/>
          </a:p>
        </p:txBody>
      </p:sp>
      <p:sp>
        <p:nvSpPr>
          <p:cNvPr id="36" name="Shape 34"/>
          <p:cNvSpPr/>
          <p:nvPr/>
        </p:nvSpPr>
        <p:spPr>
          <a:xfrm>
            <a:off x="7179869" y="5151730"/>
            <a:ext cx="746150" cy="264262"/>
          </a:xfrm>
          <a:prstGeom prst="roundRect">
            <a:avLst>
              <a:gd name="adj" fmla="val 17301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179869" y="5151730"/>
            <a:ext cx="746150" cy="2642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8019288" y="5151730"/>
            <a:ext cx="746150" cy="264262"/>
          </a:xfrm>
          <a:prstGeom prst="roundRect">
            <a:avLst>
              <a:gd name="adj" fmla="val 17301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019288" y="5151730"/>
            <a:ext cx="746150" cy="2642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8858707" y="5151730"/>
            <a:ext cx="746150" cy="264262"/>
          </a:xfrm>
          <a:prstGeom prst="roundRect">
            <a:avLst>
              <a:gd name="adj" fmla="val 17301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858707" y="5151730"/>
            <a:ext cx="746150" cy="2642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OCCL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7242048" y="5524805"/>
            <a:ext cx="2331720" cy="0"/>
          </a:xfrm>
          <a:prstGeom prst="line">
            <a:avLst/>
          </a:prstGeom>
          <a:noFill/>
          <a:ln w="9525">
            <a:solidFill>
              <a:srgbClr val="CBD5D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086600" y="5586984"/>
            <a:ext cx="2642616" cy="202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SSID: EAGLEHAGEN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7086600" y="5789066"/>
            <a:ext cx="2642616" cy="202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IP: 192.168.4.1</a:t>
            </a:r>
            <a:endParaRPr lang="en-US" sz="850" dirty="0"/>
          </a:p>
        </p:txBody>
      </p:sp>
      <p:sp>
        <p:nvSpPr>
          <p:cNvPr id="45" name="Text 43"/>
          <p:cNvSpPr txBox="1"/>
          <p:nvPr/>
        </p:nvSpPr>
        <p:spPr>
          <a:xfrm>
            <a:off x="7086600" y="5991149"/>
            <a:ext cx="2642616" cy="202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Out: LabVIEW</a:t>
            </a:r>
            <a:endParaRPr lang="en-US" sz="850" dirty="0"/>
          </a:p>
        </p:txBody>
      </p:sp>
      <p:sp>
        <p:nvSpPr>
          <p:cNvPr id="46" name="Text 44"/>
          <p:cNvSpPr txBox="1"/>
          <p:nvPr/>
        </p:nvSpPr>
        <p:spPr>
          <a:xfrm>
            <a:off x="1079504" y="715060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Teknosofen</a:t>
            </a:r>
            <a:endParaRPr lang="en-US" sz="1000" dirty="0"/>
          </a:p>
        </p:txBody>
      </p:sp>
      <p:pic>
        <p:nvPicPr>
          <p:cNvPr id="47" name="Image 0" descr="Örnhagen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958584"/>
            <a:ext cx="393704" cy="42062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592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Getting started in four steps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9592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power-on to live values on your phone or tablet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192274" cy="2743200"/>
          </a:xfrm>
          <a:prstGeom prst="roundRect">
            <a:avLst>
              <a:gd name="adj" fmla="val 5005"/>
            </a:avLst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965960"/>
            <a:ext cx="548640" cy="548640"/>
          </a:xfrm>
          <a:prstGeom prst="ellipse">
            <a:avLst/>
          </a:prstGeom>
          <a:solidFill>
            <a:srgbClr val="184D7B"/>
          </a:solidFill>
          <a:ln w="12700">
            <a:solidFill>
              <a:srgbClr val="184D7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6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51760"/>
            <a:ext cx="173507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Connect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108960"/>
            <a:ext cx="173507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the sample line, O₂ and volume sensors. Switch on the +12 V supply.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740914" y="265176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529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3015234" y="1737360"/>
            <a:ext cx="2192274" cy="2743200"/>
          </a:xfrm>
          <a:prstGeom prst="roundRect">
            <a:avLst>
              <a:gd name="adj" fmla="val 5005"/>
            </a:avLst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43834" y="1965960"/>
            <a:ext cx="548640" cy="548640"/>
          </a:xfrm>
          <a:prstGeom prst="ellipse">
            <a:avLst/>
          </a:prstGeom>
          <a:solidFill>
            <a:srgbClr val="184D7B"/>
          </a:solidFill>
          <a:ln w="12700">
            <a:solidFill>
              <a:srgbClr val="184D7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43834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60" dirty="0"/>
          </a:p>
        </p:txBody>
      </p:sp>
      <p:sp>
        <p:nvSpPr>
          <p:cNvPr id="13" name="Text 11"/>
          <p:cNvSpPr txBox="1"/>
          <p:nvPr/>
        </p:nvSpPr>
        <p:spPr>
          <a:xfrm>
            <a:off x="3243834" y="2651760"/>
            <a:ext cx="173507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Wait ~15 s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3243834" y="3108960"/>
            <a:ext cx="173507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screen shows “Initializing”, “Connecting sensor”, then “Ready!” and the main screen.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207508" y="265176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529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5481828" y="1737360"/>
            <a:ext cx="2192274" cy="2743200"/>
          </a:xfrm>
          <a:prstGeom prst="roundRect">
            <a:avLst>
              <a:gd name="adj" fmla="val 5005"/>
            </a:avLst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710428" y="1965960"/>
            <a:ext cx="548640" cy="548640"/>
          </a:xfrm>
          <a:prstGeom prst="ellipse">
            <a:avLst/>
          </a:prstGeom>
          <a:solidFill>
            <a:srgbClr val="184D7B"/>
          </a:solidFill>
          <a:ln w="12700">
            <a:solidFill>
              <a:srgbClr val="184D7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710428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60" dirty="0"/>
          </a:p>
        </p:txBody>
      </p:sp>
      <p:sp>
        <p:nvSpPr>
          <p:cNvPr id="19" name="Text 17"/>
          <p:cNvSpPr txBox="1"/>
          <p:nvPr/>
        </p:nvSpPr>
        <p:spPr>
          <a:xfrm>
            <a:off x="5710428" y="2651760"/>
            <a:ext cx="173507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Join WiFi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5710428" y="3108960"/>
            <a:ext cx="173507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phone or tablet, join the network EAGLEHAGEN. There is no password.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674102" y="265176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529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22" name="Shape 20"/>
          <p:cNvSpPr/>
          <p:nvPr/>
        </p:nvSpPr>
        <p:spPr>
          <a:xfrm>
            <a:off x="7948422" y="1737360"/>
            <a:ext cx="2192274" cy="2743200"/>
          </a:xfrm>
          <a:prstGeom prst="roundRect">
            <a:avLst>
              <a:gd name="adj" fmla="val 5005"/>
            </a:avLst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77022" y="1965960"/>
            <a:ext cx="548640" cy="548640"/>
          </a:xfrm>
          <a:prstGeom prst="ellipse">
            <a:avLst/>
          </a:prstGeom>
          <a:solidFill>
            <a:srgbClr val="184D7B"/>
          </a:solidFill>
          <a:ln w="12700">
            <a:solidFill>
              <a:srgbClr val="184D7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177022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60" dirty="0"/>
          </a:p>
        </p:txBody>
      </p:sp>
      <p:sp>
        <p:nvSpPr>
          <p:cNvPr id="25" name="Text 23"/>
          <p:cNvSpPr txBox="1"/>
          <p:nvPr/>
        </p:nvSpPr>
        <p:spPr>
          <a:xfrm>
            <a:off x="8177022" y="2651760"/>
            <a:ext cx="173507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the page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8177022" y="3108960"/>
            <a:ext cx="173507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browser, go to the web address shown below.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48640" y="4846320"/>
            <a:ext cx="9592056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5292BD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68680" y="4983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address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868680" y="5257800"/>
            <a:ext cx="89519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http://eaglehagen.local</a:t>
            </a:r>
            <a:pPr indent="0" marL="0">
              <a:buNone/>
            </a:pPr>
            <a:r>
              <a:rPr lang="en-US" sz="1800" dirty="0">
                <a:solidFill>
                  <a:srgbClr val="5B67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  or     </a:t>
            </a:r>
            <a:pPr indent="0" marL="0">
              <a:buNone/>
            </a:pPr>
            <a:r>
              <a:rPr lang="en-US" sz="26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http://192.168.4.1</a:t>
            </a:r>
            <a:endParaRPr lang="en-US" sz="26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6263640"/>
            <a:ext cx="9592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</a:t>
            </a:r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PUMP badge is red, press the Restart pump button on the device, or tap Start Pump on the web page.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1079504" y="715060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Teknosofen</a:t>
            </a:r>
            <a:endParaRPr lang="en-US" sz="1000" dirty="0"/>
          </a:p>
        </p:txBody>
      </p:sp>
      <p:pic>
        <p:nvPicPr>
          <p:cNvPr id="32" name="Image 0" descr="Örnhagen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958584"/>
            <a:ext cx="393704" cy="420624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1975616" y="71506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Eaglehagen CO₂ Monitor  ·  Basic setup</a:t>
            </a:r>
            <a:endParaRPr lang="en-US" sz="900" dirty="0"/>
          </a:p>
        </p:txBody>
      </p:sp>
      <p:sp>
        <p:nvSpPr>
          <p:cNvPr id="34" name="Text 31"/>
          <p:cNvSpPr txBox="1"/>
          <p:nvPr/>
        </p:nvSpPr>
        <p:spPr>
          <a:xfrm>
            <a:off x="9226296" y="715060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592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the device screen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9592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important is visible without a phone or PC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07669" y="1464869"/>
            <a:ext cx="2926994" cy="5190134"/>
          </a:xfrm>
          <a:prstGeom prst="roundRect">
            <a:avLst>
              <a:gd name="adj" fmla="val 4686"/>
            </a:avLst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88720" y="1645920"/>
            <a:ext cx="2564892" cy="4828032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88720" y="1645920"/>
            <a:ext cx="2564892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85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Ornhagen</a:t>
            </a:r>
            <a:endParaRPr lang="en-US" sz="1485" dirty="0"/>
          </a:p>
        </p:txBody>
      </p:sp>
      <p:sp>
        <p:nvSpPr>
          <p:cNvPr id="7" name="Shape 5"/>
          <p:cNvSpPr/>
          <p:nvPr/>
        </p:nvSpPr>
        <p:spPr>
          <a:xfrm>
            <a:off x="3421685" y="1796796"/>
            <a:ext cx="150876" cy="150876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79246" y="2128723"/>
            <a:ext cx="2383841" cy="1689811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D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339596" y="3414187"/>
            <a:ext cx="226314" cy="0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565910" y="2626614"/>
            <a:ext cx="60350" cy="787573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626260" y="2463668"/>
            <a:ext cx="256489" cy="162946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882750" y="2463668"/>
            <a:ext cx="45263" cy="950519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28012" y="3414187"/>
            <a:ext cx="165964" cy="0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93976" y="3414187"/>
            <a:ext cx="226314" cy="0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2320290" y="2626614"/>
            <a:ext cx="60350" cy="787573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2380640" y="2463668"/>
            <a:ext cx="256489" cy="162946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637130" y="2463668"/>
            <a:ext cx="45263" cy="950519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82392" y="3414187"/>
            <a:ext cx="165964" cy="0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48356" y="3414187"/>
            <a:ext cx="226314" cy="0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074670" y="2626614"/>
            <a:ext cx="60350" cy="787573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135020" y="2463668"/>
            <a:ext cx="256489" cy="162946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91510" y="2463668"/>
            <a:ext cx="45263" cy="950519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436772" y="3414187"/>
            <a:ext cx="165964" cy="0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339596" y="3577133"/>
            <a:ext cx="1508760" cy="211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5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CO2 Waveform</a:t>
            </a:r>
            <a:endParaRPr lang="en-US" sz="825" dirty="0"/>
          </a:p>
        </p:txBody>
      </p:sp>
      <p:sp>
        <p:nvSpPr>
          <p:cNvPr id="25" name="Shape 23"/>
          <p:cNvSpPr/>
          <p:nvPr/>
        </p:nvSpPr>
        <p:spPr>
          <a:xfrm>
            <a:off x="1279246" y="3909060"/>
            <a:ext cx="2383841" cy="663854"/>
          </a:xfrm>
          <a:prstGeom prst="roundRect">
            <a:avLst>
              <a:gd name="adj" fmla="val 8264"/>
            </a:avLst>
          </a:prstGeom>
          <a:solidFill>
            <a:srgbClr val="FFFFFF"/>
          </a:solidFill>
          <a:ln w="12700">
            <a:solidFill>
              <a:srgbClr val="CBD5D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369771" y="3969410"/>
            <a:ext cx="905256" cy="211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7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FCO2</a:t>
            </a:r>
            <a:endParaRPr lang="en-US" sz="907" dirty="0"/>
          </a:p>
        </p:txBody>
      </p:sp>
      <p:sp>
        <p:nvSpPr>
          <p:cNvPr id="27" name="Text 25"/>
          <p:cNvSpPr txBox="1"/>
          <p:nvPr/>
        </p:nvSpPr>
        <p:spPr>
          <a:xfrm>
            <a:off x="1641348" y="4059936"/>
            <a:ext cx="1357884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1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</a:t>
            </a:r>
            <a:endParaRPr lang="en-US" sz="2310" dirty="0"/>
          </a:p>
        </p:txBody>
      </p:sp>
      <p:sp>
        <p:nvSpPr>
          <p:cNvPr id="28" name="Text 26"/>
          <p:cNvSpPr txBox="1"/>
          <p:nvPr/>
        </p:nvSpPr>
        <p:spPr>
          <a:xfrm>
            <a:off x="2999232" y="4150462"/>
            <a:ext cx="6035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9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kPa</a:t>
            </a:r>
            <a:endParaRPr lang="en-US" sz="990" dirty="0"/>
          </a:p>
        </p:txBody>
      </p:sp>
      <p:sp>
        <p:nvSpPr>
          <p:cNvPr id="29" name="Shape 27"/>
          <p:cNvSpPr/>
          <p:nvPr/>
        </p:nvSpPr>
        <p:spPr>
          <a:xfrm>
            <a:off x="1279246" y="4663440"/>
            <a:ext cx="2383841" cy="663854"/>
          </a:xfrm>
          <a:prstGeom prst="roundRect">
            <a:avLst>
              <a:gd name="adj" fmla="val 8264"/>
            </a:avLst>
          </a:prstGeom>
          <a:solidFill>
            <a:srgbClr val="FFFFFF"/>
          </a:solidFill>
          <a:ln w="12700">
            <a:solidFill>
              <a:srgbClr val="CBD5D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69771" y="4723790"/>
            <a:ext cx="905256" cy="211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7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O2</a:t>
            </a:r>
            <a:endParaRPr lang="en-US" sz="907" dirty="0"/>
          </a:p>
        </p:txBody>
      </p:sp>
      <p:sp>
        <p:nvSpPr>
          <p:cNvPr id="31" name="Text 29"/>
          <p:cNvSpPr txBox="1"/>
          <p:nvPr/>
        </p:nvSpPr>
        <p:spPr>
          <a:xfrm>
            <a:off x="1641348" y="4814316"/>
            <a:ext cx="1357884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1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20.9</a:t>
            </a:r>
            <a:endParaRPr lang="en-US" sz="2310" dirty="0"/>
          </a:p>
        </p:txBody>
      </p:sp>
      <p:sp>
        <p:nvSpPr>
          <p:cNvPr id="32" name="Text 30"/>
          <p:cNvSpPr txBox="1"/>
          <p:nvPr/>
        </p:nvSpPr>
        <p:spPr>
          <a:xfrm>
            <a:off x="2999232" y="4904842"/>
            <a:ext cx="6035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9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990" dirty="0"/>
          </a:p>
        </p:txBody>
      </p:sp>
      <p:sp>
        <p:nvSpPr>
          <p:cNvPr id="33" name="Shape 31"/>
          <p:cNvSpPr/>
          <p:nvPr/>
        </p:nvSpPr>
        <p:spPr>
          <a:xfrm>
            <a:off x="1279246" y="5447995"/>
            <a:ext cx="724205" cy="256489"/>
          </a:xfrm>
          <a:prstGeom prst="roundRect">
            <a:avLst>
              <a:gd name="adj" fmla="val 17825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279246" y="5447995"/>
            <a:ext cx="724205" cy="256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5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</a:t>
            </a:r>
            <a:endParaRPr lang="en-US" sz="825" dirty="0"/>
          </a:p>
        </p:txBody>
      </p:sp>
      <p:sp>
        <p:nvSpPr>
          <p:cNvPr id="35" name="Shape 33"/>
          <p:cNvSpPr/>
          <p:nvPr/>
        </p:nvSpPr>
        <p:spPr>
          <a:xfrm>
            <a:off x="2093976" y="5447995"/>
            <a:ext cx="724205" cy="256489"/>
          </a:xfrm>
          <a:prstGeom prst="roundRect">
            <a:avLst>
              <a:gd name="adj" fmla="val 17825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093976" y="5447995"/>
            <a:ext cx="724205" cy="256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5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</a:t>
            </a:r>
            <a:endParaRPr lang="en-US" sz="825" dirty="0"/>
          </a:p>
        </p:txBody>
      </p:sp>
      <p:sp>
        <p:nvSpPr>
          <p:cNvPr id="37" name="Shape 35"/>
          <p:cNvSpPr/>
          <p:nvPr/>
        </p:nvSpPr>
        <p:spPr>
          <a:xfrm>
            <a:off x="2908706" y="5447995"/>
            <a:ext cx="724205" cy="256489"/>
          </a:xfrm>
          <a:prstGeom prst="roundRect">
            <a:avLst>
              <a:gd name="adj" fmla="val 17825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2908706" y="5447995"/>
            <a:ext cx="724205" cy="256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5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OCCL</a:t>
            </a:r>
            <a:endParaRPr lang="en-US" sz="825" dirty="0"/>
          </a:p>
        </p:txBody>
      </p:sp>
      <p:sp>
        <p:nvSpPr>
          <p:cNvPr id="39" name="Shape 37"/>
          <p:cNvSpPr/>
          <p:nvPr/>
        </p:nvSpPr>
        <p:spPr>
          <a:xfrm>
            <a:off x="1339596" y="5810098"/>
            <a:ext cx="2263140" cy="0"/>
          </a:xfrm>
          <a:prstGeom prst="line">
            <a:avLst/>
          </a:prstGeom>
          <a:noFill/>
          <a:ln w="9525">
            <a:solidFill>
              <a:srgbClr val="CBD5D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1188720" y="5870448"/>
            <a:ext cx="2564892" cy="1961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5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SSID: EAGLEHAGEN</a:t>
            </a:r>
            <a:endParaRPr lang="en-US" sz="825" dirty="0"/>
          </a:p>
        </p:txBody>
      </p:sp>
      <p:sp>
        <p:nvSpPr>
          <p:cNvPr id="41" name="Text 39"/>
          <p:cNvSpPr txBox="1"/>
          <p:nvPr/>
        </p:nvSpPr>
        <p:spPr>
          <a:xfrm>
            <a:off x="1188720" y="6066587"/>
            <a:ext cx="2564892" cy="1961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5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IP: 192.168.4.1</a:t>
            </a:r>
            <a:endParaRPr lang="en-US" sz="825" dirty="0"/>
          </a:p>
        </p:txBody>
      </p:sp>
      <p:sp>
        <p:nvSpPr>
          <p:cNvPr id="42" name="Text 40"/>
          <p:cNvSpPr txBox="1"/>
          <p:nvPr/>
        </p:nvSpPr>
        <p:spPr>
          <a:xfrm>
            <a:off x="1188720" y="6262726"/>
            <a:ext cx="2564892" cy="1961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5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Out: LabVIEW</a:t>
            </a:r>
            <a:endParaRPr lang="en-US" sz="825" dirty="0"/>
          </a:p>
        </p:txBody>
      </p:sp>
      <p:sp>
        <p:nvSpPr>
          <p:cNvPr id="43" name="Shape 41"/>
          <p:cNvSpPr/>
          <p:nvPr/>
        </p:nvSpPr>
        <p:spPr>
          <a:xfrm>
            <a:off x="3982212" y="1872234"/>
            <a:ext cx="909828" cy="0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0" y="1689354"/>
            <a:ext cx="365760" cy="365760"/>
          </a:xfrm>
          <a:prstGeom prst="ellipse">
            <a:avLst/>
          </a:prstGeom>
          <a:solidFill>
            <a:srgbClr val="5292BD"/>
          </a:solidFill>
          <a:ln w="12700">
            <a:solidFill>
              <a:srgbClr val="5292BD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937760" y="168935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040" dirty="0"/>
          </a:p>
        </p:txBody>
      </p:sp>
      <p:sp>
        <p:nvSpPr>
          <p:cNvPr id="46" name="Text 44"/>
          <p:cNvSpPr txBox="1"/>
          <p:nvPr/>
        </p:nvSpPr>
        <p:spPr>
          <a:xfrm>
            <a:off x="5440680" y="1671066"/>
            <a:ext cx="4700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and WiFi  </a:t>
            </a:r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dot: the WiFi network is on.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3982212" y="2973629"/>
            <a:ext cx="909828" cy="0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937760" y="2790749"/>
            <a:ext cx="365760" cy="365760"/>
          </a:xfrm>
          <a:prstGeom prst="ellipse">
            <a:avLst/>
          </a:prstGeom>
          <a:solidFill>
            <a:srgbClr val="5292BD"/>
          </a:solidFill>
          <a:ln w="12700">
            <a:solidFill>
              <a:srgbClr val="5292BD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4937760" y="279074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40" dirty="0"/>
          </a:p>
        </p:txBody>
      </p:sp>
      <p:sp>
        <p:nvSpPr>
          <p:cNvPr id="50" name="Text 48"/>
          <p:cNvSpPr txBox="1"/>
          <p:nvPr/>
        </p:nvSpPr>
        <p:spPr>
          <a:xfrm>
            <a:off x="5440680" y="2772461"/>
            <a:ext cx="4700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 waveform  </a:t>
            </a:r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Scrolling curve of every breath, scaled automatically.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3982212" y="4240987"/>
            <a:ext cx="909828" cy="0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937760" y="4058107"/>
            <a:ext cx="365760" cy="365760"/>
          </a:xfrm>
          <a:prstGeom prst="ellipse">
            <a:avLst/>
          </a:prstGeom>
          <a:solidFill>
            <a:srgbClr val="5292BD"/>
          </a:solidFill>
          <a:ln w="12700">
            <a:solidFill>
              <a:srgbClr val="5292BD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937760" y="4058107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40" dirty="0"/>
          </a:p>
        </p:txBody>
      </p:sp>
      <p:sp>
        <p:nvSpPr>
          <p:cNvPr id="54" name="Text 52"/>
          <p:cNvSpPr txBox="1"/>
          <p:nvPr/>
        </p:nvSpPr>
        <p:spPr>
          <a:xfrm>
            <a:off x="5440680" y="4039819"/>
            <a:ext cx="4700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FCO2  </a:t>
            </a:r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CO₂ value in kPa.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3982212" y="4995367"/>
            <a:ext cx="909828" cy="0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937760" y="4812487"/>
            <a:ext cx="365760" cy="365760"/>
          </a:xfrm>
          <a:prstGeom prst="ellipse">
            <a:avLst/>
          </a:prstGeom>
          <a:solidFill>
            <a:srgbClr val="5292BD"/>
          </a:solidFill>
          <a:ln w="12700">
            <a:solidFill>
              <a:srgbClr val="5292BD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937760" y="4812487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40" dirty="0"/>
          </a:p>
        </p:txBody>
      </p:sp>
      <p:sp>
        <p:nvSpPr>
          <p:cNvPr id="58" name="Text 56"/>
          <p:cNvSpPr txBox="1"/>
          <p:nvPr/>
        </p:nvSpPr>
        <p:spPr>
          <a:xfrm>
            <a:off x="5440680" y="4794199"/>
            <a:ext cx="4700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O₂  </a:t>
            </a:r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Oxygen concentration in %.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3982212" y="5568696"/>
            <a:ext cx="909828" cy="0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0" y="5385816"/>
            <a:ext cx="365760" cy="365760"/>
          </a:xfrm>
          <a:prstGeom prst="ellipse">
            <a:avLst/>
          </a:prstGeom>
          <a:solidFill>
            <a:srgbClr val="5292BD"/>
          </a:solidFill>
          <a:ln w="12700">
            <a:solidFill>
              <a:srgbClr val="5292BD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4937760" y="53858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40" dirty="0"/>
          </a:p>
        </p:txBody>
      </p:sp>
      <p:sp>
        <p:nvSpPr>
          <p:cNvPr id="62" name="Text 60"/>
          <p:cNvSpPr txBox="1"/>
          <p:nvPr/>
        </p:nvSpPr>
        <p:spPr>
          <a:xfrm>
            <a:off x="5440680" y="5367528"/>
            <a:ext cx="4700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Alarm badges  </a:t>
            </a:r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= OK, red = problem. See next page.</a:t>
            </a:r>
            <a:endParaRPr lang="en-US" sz="1400" dirty="0"/>
          </a:p>
        </p:txBody>
      </p:sp>
      <p:sp>
        <p:nvSpPr>
          <p:cNvPr id="63" name="Shape 61"/>
          <p:cNvSpPr/>
          <p:nvPr/>
        </p:nvSpPr>
        <p:spPr>
          <a:xfrm>
            <a:off x="3982212" y="6172200"/>
            <a:ext cx="909828" cy="0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937760" y="5989320"/>
            <a:ext cx="365760" cy="365760"/>
          </a:xfrm>
          <a:prstGeom prst="ellipse">
            <a:avLst/>
          </a:prstGeom>
          <a:solidFill>
            <a:srgbClr val="5292BD"/>
          </a:solidFill>
          <a:ln w="12700">
            <a:solidFill>
              <a:srgbClr val="5292BD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4937760" y="5989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40" dirty="0"/>
          </a:p>
        </p:txBody>
      </p:sp>
      <p:sp>
        <p:nvSpPr>
          <p:cNvPr id="66" name="Text 64"/>
          <p:cNvSpPr txBox="1"/>
          <p:nvPr/>
        </p:nvSpPr>
        <p:spPr>
          <a:xfrm>
            <a:off x="5440680" y="5971032"/>
            <a:ext cx="4700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and output  </a:t>
            </a:r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WiFi name, web address and the USB format (“Out:”).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1079504" y="715060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Teknosofen</a:t>
            </a:r>
            <a:endParaRPr lang="en-US" sz="1000" dirty="0"/>
          </a:p>
        </p:txBody>
      </p:sp>
      <p:pic>
        <p:nvPicPr>
          <p:cNvPr id="68" name="Image 0" descr="Örnhagen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958584"/>
            <a:ext cx="393704" cy="420624"/>
          </a:xfrm>
          <a:prstGeom prst="rect">
            <a:avLst/>
          </a:prstGeom>
        </p:spPr>
      </p:pic>
      <p:sp>
        <p:nvSpPr>
          <p:cNvPr id="69" name="Text 66"/>
          <p:cNvSpPr txBox="1"/>
          <p:nvPr/>
        </p:nvSpPr>
        <p:spPr>
          <a:xfrm>
            <a:off x="1975616" y="71506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Eaglehagen CO₂ Monitor  ·  Basic setup</a:t>
            </a:r>
            <a:endParaRPr lang="en-US" sz="900" dirty="0"/>
          </a:p>
        </p:txBody>
      </p:sp>
      <p:sp>
        <p:nvSpPr>
          <p:cNvPr id="70" name="Text 67"/>
          <p:cNvSpPr txBox="1"/>
          <p:nvPr/>
        </p:nvSpPr>
        <p:spPr>
          <a:xfrm>
            <a:off x="9226296" y="715060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592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Buttons and alarms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9592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labelled buttons next to the display, three alarm badges on the screen and web page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Buttons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4206240" cy="1097280"/>
          </a:xfrm>
          <a:prstGeom prst="roundRect">
            <a:avLst>
              <a:gd name="adj" fmla="val 10000"/>
            </a:avLst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pic>
        <p:nvPicPr>
          <p:cNvPr id="6" name="Image 0" descr="Photo of the Restart pump butt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368296"/>
            <a:ext cx="941832" cy="65836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874520" y="2286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Restart pump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874520" y="26517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the sample pump. Use it when the PUMP badge is red.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3429000"/>
            <a:ext cx="4206240" cy="1097280"/>
          </a:xfrm>
          <a:prstGeom prst="roundRect">
            <a:avLst>
              <a:gd name="adj" fmla="val 10000"/>
            </a:avLst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pic>
        <p:nvPicPr>
          <p:cNvPr id="10" name="Image 1" descr="Photo of the Select output butt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648456"/>
            <a:ext cx="941832" cy="65836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874520" y="35661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output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1874520" y="39319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Switches the USB output between LabVIEW and ASCII (see “Out:”).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48640" y="4709160"/>
            <a:ext cx="4206240" cy="1188720"/>
          </a:xfrm>
          <a:prstGeom prst="roundRect">
            <a:avLst>
              <a:gd name="adj" fmla="val 9231"/>
            </a:avLst>
          </a:prstGeom>
          <a:solidFill>
            <a:srgbClr val="FDF2E9"/>
          </a:solidFill>
          <a:ln w="12700">
            <a:solidFill>
              <a:srgbClr val="B9770E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77240" y="4818888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77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Caution: </a:t>
            </a:r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hold Select output while switching the device on. It then starts in programming mode and the monitor will not run. Just switch off and on again.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257800" y="16916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Alarm badges</a:t>
            </a:r>
            <a:endParaRPr lang="en-US" sz="2000" dirty="0"/>
          </a:p>
        </p:txBody>
      </p:sp>
      <p:sp>
        <p:nvSpPr>
          <p:cNvPr id="16" name="Shape 12"/>
          <p:cNvSpPr/>
          <p:nvPr/>
        </p:nvSpPr>
        <p:spPr>
          <a:xfrm>
            <a:off x="5257800" y="2148840"/>
            <a:ext cx="4882896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D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5486400" y="2496312"/>
            <a:ext cx="868680" cy="384048"/>
          </a:xfrm>
          <a:prstGeom prst="roundRect">
            <a:avLst>
              <a:gd name="adj" fmla="val 11905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0" y="24963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6583680" y="2267712"/>
            <a:ext cx="3374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pump stopped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6583680" y="2624328"/>
            <a:ext cx="3374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Restart pump on the device or Start Pump on the web page.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5257800" y="3429000"/>
            <a:ext cx="4882896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DF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0" y="3776472"/>
            <a:ext cx="868680" cy="384048"/>
          </a:xfrm>
          <a:prstGeom prst="roundRect">
            <a:avLst>
              <a:gd name="adj" fmla="val 11905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0" y="377647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</a:t>
            </a:r>
            <a:endParaRPr lang="en-US" sz="1300" dirty="0"/>
          </a:p>
        </p:txBody>
      </p:sp>
      <p:sp>
        <p:nvSpPr>
          <p:cNvPr id="24" name="Text 20"/>
          <p:cNvSpPr txBox="1"/>
          <p:nvPr/>
        </p:nvSpPr>
        <p:spPr>
          <a:xfrm>
            <a:off x="6583680" y="3547872"/>
            <a:ext cx="3374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 in the sample line</a:t>
            </a:r>
            <a:endParaRPr lang="en-US" sz="1500" dirty="0"/>
          </a:p>
        </p:txBody>
      </p:sp>
      <p:sp>
        <p:nvSpPr>
          <p:cNvPr id="25" name="Text 21"/>
          <p:cNvSpPr txBox="1"/>
          <p:nvPr/>
        </p:nvSpPr>
        <p:spPr>
          <a:xfrm>
            <a:off x="6583680" y="3904488"/>
            <a:ext cx="3374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the sample line and its connectors.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5257800" y="4709160"/>
            <a:ext cx="4882896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DF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486400" y="5056632"/>
            <a:ext cx="868680" cy="384048"/>
          </a:xfrm>
          <a:prstGeom prst="roundRect">
            <a:avLst>
              <a:gd name="adj" fmla="val 11905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5486400" y="505663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OCCL</a:t>
            </a:r>
            <a:endParaRPr lang="en-US" sz="1300" dirty="0"/>
          </a:p>
        </p:txBody>
      </p:sp>
      <p:sp>
        <p:nvSpPr>
          <p:cNvPr id="29" name="Text 25"/>
          <p:cNvSpPr txBox="1"/>
          <p:nvPr/>
        </p:nvSpPr>
        <p:spPr>
          <a:xfrm>
            <a:off x="6583680" y="4828032"/>
            <a:ext cx="3374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line blocked</a:t>
            </a:r>
            <a:endParaRPr lang="en-US" sz="1500" dirty="0"/>
          </a:p>
        </p:txBody>
      </p:sp>
      <p:sp>
        <p:nvSpPr>
          <p:cNvPr id="30" name="Text 26"/>
          <p:cNvSpPr txBox="1"/>
          <p:nvPr/>
        </p:nvSpPr>
        <p:spPr>
          <a:xfrm>
            <a:off x="6583680" y="5184648"/>
            <a:ext cx="3374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for kinks, water or a full water trap. Then restart the pump.</a:t>
            </a:r>
            <a:endParaRPr lang="en-US" sz="1300" dirty="0"/>
          </a:p>
        </p:txBody>
      </p:sp>
      <p:sp>
        <p:nvSpPr>
          <p:cNvPr id="31" name="Text 27"/>
          <p:cNvSpPr txBox="1"/>
          <p:nvPr/>
        </p:nvSpPr>
        <p:spPr>
          <a:xfrm>
            <a:off x="5257800" y="6035040"/>
            <a:ext cx="4882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green</a:t>
            </a:r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means the analyser is sampling normally.</a:t>
            </a:r>
            <a:endParaRPr lang="en-US" sz="1300" dirty="0"/>
          </a:p>
        </p:txBody>
      </p:sp>
      <p:sp>
        <p:nvSpPr>
          <p:cNvPr id="32" name="Text 28"/>
          <p:cNvSpPr txBox="1"/>
          <p:nvPr/>
        </p:nvSpPr>
        <p:spPr>
          <a:xfrm>
            <a:off x="1079504" y="715060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Teknosofen</a:t>
            </a:r>
            <a:endParaRPr lang="en-US" sz="1000" dirty="0"/>
          </a:p>
        </p:txBody>
      </p:sp>
      <p:pic>
        <p:nvPicPr>
          <p:cNvPr id="33" name="Image 2" descr="Örnhagen log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958584"/>
            <a:ext cx="393704" cy="420624"/>
          </a:xfrm>
          <a:prstGeom prst="rect">
            <a:avLst/>
          </a:prstGeom>
        </p:spPr>
      </p:pic>
      <p:sp>
        <p:nvSpPr>
          <p:cNvPr id="34" name="Text 29"/>
          <p:cNvSpPr txBox="1"/>
          <p:nvPr/>
        </p:nvSpPr>
        <p:spPr>
          <a:xfrm>
            <a:off x="1975616" y="71506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Eaglehagen CO₂ Monitor  ·  Basic setup</a:t>
            </a:r>
            <a:endParaRPr lang="en-US" sz="900" dirty="0"/>
          </a:p>
        </p:txBody>
      </p:sp>
      <p:sp>
        <p:nvSpPr>
          <p:cNvPr id="35" name="Text 30"/>
          <p:cNvSpPr txBox="1"/>
          <p:nvPr/>
        </p:nvSpPr>
        <p:spPr>
          <a:xfrm>
            <a:off x="9226296" y="715060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592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web page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9592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values, charts, pump control and data export on any phone, tablet or laptop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4754880" cy="484632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2700">
            <a:solidFill>
              <a:srgbClr val="CBD5D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57784" y="1700784"/>
            <a:ext cx="4736592" cy="320040"/>
          </a:xfrm>
          <a:prstGeom prst="rect">
            <a:avLst/>
          </a:prstGeom>
          <a:solidFill>
            <a:srgbClr val="E5EAF0"/>
          </a:solidFill>
          <a:ln w="12700">
            <a:solidFill>
              <a:srgbClr val="E5EA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7373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eaglehagen.local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Örnhagens Monitor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880360" y="2148840"/>
            <a:ext cx="530352" cy="219456"/>
          </a:xfrm>
          <a:prstGeom prst="roundRect">
            <a:avLst>
              <a:gd name="adj" fmla="val 20833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880360" y="214884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465576" y="2148840"/>
            <a:ext cx="530352" cy="219456"/>
          </a:xfrm>
          <a:prstGeom prst="roundRect">
            <a:avLst>
              <a:gd name="adj" fmla="val 20833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65576" y="214884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050792" y="2148840"/>
            <a:ext cx="530352" cy="219456"/>
          </a:xfrm>
          <a:prstGeom prst="roundRect">
            <a:avLst>
              <a:gd name="adj" fmla="val 20833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050792" y="214884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636008" y="2148840"/>
            <a:ext cx="530352" cy="219456"/>
          </a:xfrm>
          <a:prstGeom prst="roundRect">
            <a:avLst>
              <a:gd name="adj" fmla="val 20833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636008" y="214884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Occl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731520" y="2560320"/>
            <a:ext cx="804672" cy="640080"/>
          </a:xfrm>
          <a:prstGeom prst="roundRect">
            <a:avLst>
              <a:gd name="adj" fmla="val 8571"/>
            </a:avLst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2587752"/>
            <a:ext cx="804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EtCO₂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2770632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1618488" y="2560320"/>
            <a:ext cx="804672" cy="640080"/>
          </a:xfrm>
          <a:prstGeom prst="roundRect">
            <a:avLst>
              <a:gd name="adj" fmla="val 8571"/>
            </a:avLst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618488" y="2587752"/>
            <a:ext cx="804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1618488" y="2770632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2505456" y="2560320"/>
            <a:ext cx="804672" cy="640080"/>
          </a:xfrm>
          <a:prstGeom prst="roundRect">
            <a:avLst>
              <a:gd name="adj" fmla="val 8571"/>
            </a:avLst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505456" y="2587752"/>
            <a:ext cx="804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RR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2505456" y="2770632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3392424" y="2560320"/>
            <a:ext cx="804672" cy="640080"/>
          </a:xfrm>
          <a:prstGeom prst="roundRect">
            <a:avLst>
              <a:gd name="adj" fmla="val 8571"/>
            </a:avLst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392424" y="2587752"/>
            <a:ext cx="804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O₂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3392424" y="2770632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20.9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279392" y="2560320"/>
            <a:ext cx="804672" cy="640080"/>
          </a:xfrm>
          <a:prstGeom prst="roundRect">
            <a:avLst>
              <a:gd name="adj" fmla="val 8571"/>
            </a:avLst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279392" y="2587752"/>
            <a:ext cx="804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4279392" y="2770632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731520" y="3337560"/>
            <a:ext cx="43891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D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2960" y="3941796"/>
            <a:ext cx="252374" cy="0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1075334" y="3591763"/>
            <a:ext cx="67300" cy="350032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1142634" y="3519343"/>
            <a:ext cx="286024" cy="72420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428659" y="3519343"/>
            <a:ext cx="50475" cy="422453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479133" y="3941796"/>
            <a:ext cx="185075" cy="0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664208" y="3941796"/>
            <a:ext cx="252374" cy="0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1916582" y="3591763"/>
            <a:ext cx="67300" cy="350032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1983882" y="3519343"/>
            <a:ext cx="286024" cy="72420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269907" y="3519343"/>
            <a:ext cx="50475" cy="422453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320381" y="3941796"/>
            <a:ext cx="185075" cy="0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505456" y="3941796"/>
            <a:ext cx="252374" cy="0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2757830" y="3591763"/>
            <a:ext cx="67300" cy="350032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V="1">
            <a:off x="2825130" y="3519343"/>
            <a:ext cx="286024" cy="72420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111155" y="3519343"/>
            <a:ext cx="50475" cy="422453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161629" y="3941796"/>
            <a:ext cx="185075" cy="0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346704" y="3941796"/>
            <a:ext cx="252374" cy="0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V="1">
            <a:off x="3599078" y="3591763"/>
            <a:ext cx="67300" cy="350032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flipV="1">
            <a:off x="3666378" y="3519343"/>
            <a:ext cx="286024" cy="72420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952403" y="3519343"/>
            <a:ext cx="50475" cy="422453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002877" y="3941796"/>
            <a:ext cx="185075" cy="0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187952" y="3941796"/>
            <a:ext cx="252374" cy="0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4440326" y="3591763"/>
            <a:ext cx="67300" cy="350032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4507626" y="3519343"/>
            <a:ext cx="286024" cy="72420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793651" y="3519343"/>
            <a:ext cx="50475" cy="422453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844125" y="3941796"/>
            <a:ext cx="185075" cy="0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114800" y="3374136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 (kPa)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731520" y="4206240"/>
            <a:ext cx="43891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D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22960" y="4617720"/>
            <a:ext cx="4206240" cy="0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4114800" y="4242816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O₂ (%)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731520" y="5074920"/>
            <a:ext cx="43891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D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22960" y="5577840"/>
            <a:ext cx="4206240" cy="0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4114800" y="5111496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(mL)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731520" y="6007608"/>
            <a:ext cx="804672" cy="292608"/>
          </a:xfrm>
          <a:prstGeom prst="roundRect">
            <a:avLst>
              <a:gd name="adj" fmla="val 15625"/>
            </a:avLst>
          </a:prstGeom>
          <a:solidFill>
            <a:srgbClr val="184D7B"/>
          </a:solidFill>
          <a:ln w="12700">
            <a:solidFill>
              <a:srgbClr val="184D7B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731520" y="6007608"/>
            <a:ext cx="804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Pump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1618488" y="6007608"/>
            <a:ext cx="804672" cy="292608"/>
          </a:xfrm>
          <a:prstGeom prst="roundRect">
            <a:avLst>
              <a:gd name="adj" fmla="val 15625"/>
            </a:avLst>
          </a:prstGeom>
          <a:solidFill>
            <a:srgbClr val="184D7B"/>
          </a:solidFill>
          <a:ln w="12700">
            <a:solidFill>
              <a:srgbClr val="184D7B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1618488" y="6007608"/>
            <a:ext cx="804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Cal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2505456" y="6007608"/>
            <a:ext cx="804672" cy="292608"/>
          </a:xfrm>
          <a:prstGeom prst="roundRect">
            <a:avLst>
              <a:gd name="adj" fmla="val 15625"/>
            </a:avLst>
          </a:prstGeom>
          <a:solidFill>
            <a:srgbClr val="5292BD"/>
          </a:solidFill>
          <a:ln w="12700">
            <a:solidFill>
              <a:srgbClr val="5292BD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2505456" y="6007608"/>
            <a:ext cx="804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CSV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3392424" y="6007608"/>
            <a:ext cx="804672" cy="292608"/>
          </a:xfrm>
          <a:prstGeom prst="roundRect">
            <a:avLst>
              <a:gd name="adj" fmla="val 15625"/>
            </a:avLst>
          </a:prstGeom>
          <a:solidFill>
            <a:srgbClr val="5292BD"/>
          </a:solidFill>
          <a:ln w="12700">
            <a:solidFill>
              <a:srgbClr val="5292BD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3392424" y="6007608"/>
            <a:ext cx="804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JSON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279392" y="6007608"/>
            <a:ext cx="804672" cy="292608"/>
          </a:xfrm>
          <a:prstGeom prst="roundRect">
            <a:avLst>
              <a:gd name="adj" fmla="val 15625"/>
            </a:avLst>
          </a:prstGeom>
          <a:solidFill>
            <a:srgbClr val="5292BD"/>
          </a:solidFill>
          <a:ln w="12700">
            <a:solidFill>
              <a:srgbClr val="5292BD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4279392" y="6007608"/>
            <a:ext cx="804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</a:t>
            </a:r>
            <a:endParaRPr lang="en-US" sz="800" dirty="0"/>
          </a:p>
        </p:txBody>
      </p:sp>
      <p:sp>
        <p:nvSpPr>
          <p:cNvPr id="74" name="Text 72"/>
          <p:cNvSpPr txBox="1"/>
          <p:nvPr/>
        </p:nvSpPr>
        <p:spPr>
          <a:xfrm>
            <a:off x="5669280" y="1691640"/>
            <a:ext cx="44714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Pump</a:t>
            </a:r>
            <a:endParaRPr lang="en-US" sz="1600" dirty="0"/>
          </a:p>
        </p:txBody>
      </p:sp>
      <p:sp>
        <p:nvSpPr>
          <p:cNvPr id="75" name="Text 73"/>
          <p:cNvSpPr txBox="1"/>
          <p:nvPr/>
        </p:nvSpPr>
        <p:spPr>
          <a:xfrm>
            <a:off x="5669280" y="2020824"/>
            <a:ext cx="4471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the analyser’s sample pump.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669280" y="2560320"/>
            <a:ext cx="44714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Calibration</a:t>
            </a:r>
            <a:endParaRPr lang="en-US" sz="1600" dirty="0"/>
          </a:p>
        </p:txBody>
      </p:sp>
      <p:sp>
        <p:nvSpPr>
          <p:cNvPr id="77" name="Text 75"/>
          <p:cNvSpPr txBox="1"/>
          <p:nvPr/>
        </p:nvSpPr>
        <p:spPr>
          <a:xfrm>
            <a:off x="5669280" y="2889504"/>
            <a:ext cx="4471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Zeroes the CO₂ reading. Only with room air in the sample line, never with breath.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5669280" y="3429000"/>
            <a:ext cx="44714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CSV / JSON</a:t>
            </a:r>
            <a:endParaRPr lang="en-US" sz="1600" dirty="0"/>
          </a:p>
        </p:txBody>
      </p:sp>
      <p:sp>
        <p:nvSpPr>
          <p:cNvPr id="79" name="Text 77"/>
          <p:cNvSpPr txBox="1"/>
          <p:nvPr/>
        </p:nvSpPr>
        <p:spPr>
          <a:xfrm>
            <a:off x="5669280" y="3758184"/>
            <a:ext cx="4471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Downloads the recorded data (spreadsheet, or for Python/MATLAB).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5669280" y="4297680"/>
            <a:ext cx="44714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Data</a:t>
            </a:r>
            <a:endParaRPr lang="en-US" sz="1600" dirty="0"/>
          </a:p>
        </p:txBody>
      </p:sp>
      <p:sp>
        <p:nvSpPr>
          <p:cNvPr id="81" name="Text 79"/>
          <p:cNvSpPr txBox="1"/>
          <p:nvPr/>
        </p:nvSpPr>
        <p:spPr>
          <a:xfrm>
            <a:off x="5669280" y="4626864"/>
            <a:ext cx="4471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Empties the recording and resets the charts.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5669280" y="5303520"/>
            <a:ext cx="4471416" cy="1234440"/>
          </a:xfrm>
          <a:prstGeom prst="roundRect">
            <a:avLst>
              <a:gd name="adj" fmla="val 8889"/>
            </a:avLst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5897880" y="5394960"/>
            <a:ext cx="40142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Recording lives in the browser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page keeps the last 2 minutes: save soon after an event and keep the page open. For longer recordings, use the PC monitor page (page 7).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1079504" y="715060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Teknosofen</a:t>
            </a:r>
            <a:endParaRPr lang="en-US" sz="1000" dirty="0"/>
          </a:p>
        </p:txBody>
      </p:sp>
      <p:pic>
        <p:nvPicPr>
          <p:cNvPr id="85" name="Image 0" descr="Örnhagen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958584"/>
            <a:ext cx="393704" cy="420624"/>
          </a:xfrm>
          <a:prstGeom prst="rect">
            <a:avLst/>
          </a:prstGeom>
        </p:spPr>
      </p:pic>
      <p:sp>
        <p:nvSpPr>
          <p:cNvPr id="86" name="Text 83"/>
          <p:cNvSpPr txBox="1"/>
          <p:nvPr/>
        </p:nvSpPr>
        <p:spPr>
          <a:xfrm>
            <a:off x="1975616" y="71506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Eaglehagen CO₂ Monitor  ·  Basic setup</a:t>
            </a:r>
            <a:endParaRPr lang="en-US" sz="900" dirty="0"/>
          </a:p>
        </p:txBody>
      </p:sp>
      <p:sp>
        <p:nvSpPr>
          <p:cNvPr id="87" name="Text 84"/>
          <p:cNvSpPr txBox="1"/>
          <p:nvPr/>
        </p:nvSpPr>
        <p:spPr>
          <a:xfrm>
            <a:off x="9226296" y="715060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592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Connecting the LabVIEW PC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9592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existing LabVIEW program works unchanged, over one USB-C cable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65176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5292B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9202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317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shows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“Out: LabVIEW”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73552" y="2377440"/>
            <a:ext cx="539496" cy="0"/>
          </a:xfrm>
          <a:prstGeom prst="line">
            <a:avLst/>
          </a:prstGeom>
          <a:noFill/>
          <a:ln w="31750">
            <a:solidFill>
              <a:srgbClr val="184D7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200400" y="201168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USB-C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886200" y="1783080"/>
            <a:ext cx="2651760" cy="1188720"/>
          </a:xfrm>
          <a:prstGeom prst="roundRect">
            <a:avLst>
              <a:gd name="adj" fmla="val 9231"/>
            </a:avLst>
          </a:prstGeom>
          <a:solidFill>
            <a:srgbClr val="E8F1F8"/>
          </a:solidFill>
          <a:ln w="12700">
            <a:solidFill>
              <a:srgbClr val="5292B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86200" y="19202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PC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886200" y="23317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port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115200 baud, 8N1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611112" y="2377440"/>
            <a:ext cx="539496" cy="0"/>
          </a:xfrm>
          <a:prstGeom prst="line">
            <a:avLst/>
          </a:prstGeom>
          <a:noFill/>
          <a:ln w="31750">
            <a:solidFill>
              <a:srgbClr val="184D7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37960" y="201168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223760" y="1783080"/>
            <a:ext cx="265176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5292B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223760" y="19202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LabVIEW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7223760" y="23317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program,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changes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429000"/>
            <a:ext cx="420624" cy="420624"/>
          </a:xfrm>
          <a:prstGeom prst="ellipse">
            <a:avLst/>
          </a:prstGeom>
          <a:solidFill>
            <a:srgbClr val="5292BD"/>
          </a:solidFill>
          <a:ln w="12700">
            <a:solidFill>
              <a:srgbClr val="5292B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3429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96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96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410712"/>
            <a:ext cx="8951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the monitor’s USB-C port to the PC. Use a data cable, not a charge-only cable.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4087368"/>
            <a:ext cx="420624" cy="420624"/>
          </a:xfrm>
          <a:prstGeom prst="ellipse">
            <a:avLst/>
          </a:prstGeom>
          <a:solidFill>
            <a:srgbClr val="5292BD"/>
          </a:solidFill>
          <a:ln w="12700">
            <a:solidFill>
              <a:srgbClr val="5292B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40873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96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96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4069080"/>
            <a:ext cx="8951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that the screen shows “Out: LabVIEW”. If it shows “Out: ASCII”, press the Select output button once.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8640" y="4745736"/>
            <a:ext cx="420624" cy="420624"/>
          </a:xfrm>
          <a:prstGeom prst="ellipse">
            <a:avLst/>
          </a:prstGeom>
          <a:solidFill>
            <a:srgbClr val="5292BD"/>
          </a:solidFill>
          <a:ln w="12700">
            <a:solidFill>
              <a:srgbClr val="5292B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4745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96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96" dirty="0"/>
          </a:p>
        </p:txBody>
      </p:sp>
      <p:sp>
        <p:nvSpPr>
          <p:cNvPr id="25" name="Text 23"/>
          <p:cNvSpPr txBox="1"/>
          <p:nvPr/>
        </p:nvSpPr>
        <p:spPr>
          <a:xfrm>
            <a:off x="1188720" y="4727448"/>
            <a:ext cx="8951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LabVIEW, select the monitor’s COM port (Windows Device Manager → Ports: “USB Serial Device”).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48640" y="5404104"/>
            <a:ext cx="420624" cy="420624"/>
          </a:xfrm>
          <a:prstGeom prst="ellipse">
            <a:avLst/>
          </a:prstGeom>
          <a:solidFill>
            <a:srgbClr val="5292BD"/>
          </a:solidFill>
          <a:ln w="12700">
            <a:solidFill>
              <a:srgbClr val="5292B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54041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96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96" dirty="0"/>
          </a:p>
        </p:txBody>
      </p:sp>
      <p:sp>
        <p:nvSpPr>
          <p:cNvPr id="28" name="Text 26"/>
          <p:cNvSpPr txBox="1"/>
          <p:nvPr/>
        </p:nvSpPr>
        <p:spPr>
          <a:xfrm>
            <a:off x="1188720" y="5385816"/>
            <a:ext cx="8951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(restart pump) and F2 (zero CO₂) work as before. The web page can be used at the same time.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6172200"/>
            <a:ext cx="9592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ASCII format: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text lines (CO₂ kPa, O₂ %, RR, volume, status) for Excel, Python or a terminal. Lines starting with # are messages and can be skipped. </a:t>
            </a:r>
            <a:pPr indent="0" marL="0">
              <a:buNone/>
            </a:pPr>
            <a:r>
              <a:rPr lang="en-US" sz="12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LabVIEW? See the next page.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079504" y="715060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Teknosofen</a:t>
            </a:r>
            <a:endParaRPr lang="en-US" sz="1000" dirty="0"/>
          </a:p>
        </p:txBody>
      </p:sp>
      <p:pic>
        <p:nvPicPr>
          <p:cNvPr id="31" name="Image 0" descr="Örnhagen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958584"/>
            <a:ext cx="393704" cy="420624"/>
          </a:xfrm>
          <a:prstGeom prst="rect">
            <a:avLst/>
          </a:prstGeom>
        </p:spPr>
      </p:pic>
      <p:sp>
        <p:nvSpPr>
          <p:cNvPr id="32" name="Text 29"/>
          <p:cNvSpPr txBox="1"/>
          <p:nvPr/>
        </p:nvSpPr>
        <p:spPr>
          <a:xfrm>
            <a:off x="1975616" y="71506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Eaglehagen CO₂ Monitor  ·  Basic setup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9226296" y="715060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592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Monitoring on a PC without LabVIEW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9592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ready-made page for Chrome or Edge: live values, charts and CSV recording over USB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93776" y="1591056"/>
            <a:ext cx="5184648" cy="4338828"/>
          </a:xfrm>
          <a:prstGeom prst="roundRect">
            <a:avLst>
              <a:gd name="adj" fmla="val 1686"/>
            </a:avLst>
          </a:prstGeom>
          <a:solidFill>
            <a:srgbClr val="FFFFFF"/>
          </a:solidFill>
          <a:ln w="12700">
            <a:solidFill>
              <a:srgbClr val="CBD5DF"/>
            </a:solidFill>
            <a:prstDash val="solid"/>
          </a:ln>
        </p:spPr>
      </p:sp>
      <p:pic>
        <p:nvPicPr>
          <p:cNvPr id="5" name="Image 0" descr="Screenshot of the PC monitor p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5074920" cy="42291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984748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monitor page, light theme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989320" y="1645920"/>
            <a:ext cx="4151376" cy="1097280"/>
          </a:xfrm>
          <a:prstGeom prst="roundRect">
            <a:avLst>
              <a:gd name="adj" fmla="val 10000"/>
            </a:avLst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17920" y="1737360"/>
            <a:ext cx="3694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Accepts both output formats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LabVIEW and ASCII are detected automatically, even if Select output is pressed while connected.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989320" y="3017520"/>
            <a:ext cx="420624" cy="420624"/>
          </a:xfrm>
          <a:prstGeom prst="ellipse">
            <a:avLst/>
          </a:prstGeom>
          <a:solidFill>
            <a:srgbClr val="5292BD"/>
          </a:solidFill>
          <a:ln w="12700">
            <a:solidFill>
              <a:srgbClr val="5292B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89320" y="30175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96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96" dirty="0"/>
          </a:p>
        </p:txBody>
      </p:sp>
      <p:sp>
        <p:nvSpPr>
          <p:cNvPr id="11" name="Text 8"/>
          <p:cNvSpPr txBox="1"/>
          <p:nvPr/>
        </p:nvSpPr>
        <p:spPr>
          <a:xfrm>
            <a:off x="6583680" y="2980944"/>
            <a:ext cx="3557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it over WiFi (once)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6583680" y="3291840"/>
            <a:ext cx="3557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EAGLEHAGEN, open eaglehagen.local and click “Download” at the bottom.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989320" y="3886200"/>
            <a:ext cx="420624" cy="420624"/>
          </a:xfrm>
          <a:prstGeom prst="ellipse">
            <a:avLst/>
          </a:prstGeom>
          <a:solidFill>
            <a:srgbClr val="5292BD"/>
          </a:solidFill>
          <a:ln w="12700">
            <a:solidFill>
              <a:srgbClr val="5292B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989320" y="3886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96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96" dirty="0"/>
          </a:p>
        </p:txBody>
      </p:sp>
      <p:sp>
        <p:nvSpPr>
          <p:cNvPr id="15" name="Text 12"/>
          <p:cNvSpPr txBox="1"/>
          <p:nvPr/>
        </p:nvSpPr>
        <p:spPr>
          <a:xfrm>
            <a:off x="6583680" y="3849624"/>
            <a:ext cx="3557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 in the USB cable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6583680" y="4160520"/>
            <a:ext cx="3557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LabVIEW first: only one program can use the COM port.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5989320" y="4754880"/>
            <a:ext cx="420624" cy="420624"/>
          </a:xfrm>
          <a:prstGeom prst="ellipse">
            <a:avLst/>
          </a:prstGeom>
          <a:solidFill>
            <a:srgbClr val="5292BD"/>
          </a:solidFill>
          <a:ln w="12700">
            <a:solidFill>
              <a:srgbClr val="5292B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989320" y="47548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96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96" dirty="0"/>
          </a:p>
        </p:txBody>
      </p:sp>
      <p:sp>
        <p:nvSpPr>
          <p:cNvPr id="19" name="Text 16"/>
          <p:cNvSpPr txBox="1"/>
          <p:nvPr/>
        </p:nvSpPr>
        <p:spPr>
          <a:xfrm>
            <a:off x="6583680" y="4718304"/>
            <a:ext cx="3557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saved file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6583680" y="5029200"/>
            <a:ext cx="3557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Chrome or Edge. First time: “Add port…” and choose the monitor.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989320" y="5623560"/>
            <a:ext cx="420624" cy="420624"/>
          </a:xfrm>
          <a:prstGeom prst="ellipse">
            <a:avLst/>
          </a:prstGeom>
          <a:solidFill>
            <a:srgbClr val="5292BD"/>
          </a:solidFill>
          <a:ln w="12700">
            <a:solidFill>
              <a:srgbClr val="5292BD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989320" y="5623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96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96" dirty="0"/>
          </a:p>
        </p:txBody>
      </p:sp>
      <p:sp>
        <p:nvSpPr>
          <p:cNvPr id="23" name="Text 20"/>
          <p:cNvSpPr txBox="1"/>
          <p:nvPr/>
        </p:nvSpPr>
        <p:spPr>
          <a:xfrm>
            <a:off x="6583680" y="5586984"/>
            <a:ext cx="3557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and record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6583680" y="5897880"/>
            <a:ext cx="3557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“Connect selection”. Everything is recorded; “Save CSV” stores it.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5989320" y="6492240"/>
            <a:ext cx="41513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monitor carries its own copy of this page, so no other files are needed. Start pump and Zero calibration work here too.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1079504" y="715060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Teknosofen</a:t>
            </a:r>
            <a:endParaRPr lang="en-US" sz="1000" dirty="0"/>
          </a:p>
        </p:txBody>
      </p:sp>
      <p:pic>
        <p:nvPicPr>
          <p:cNvPr id="27" name="Image 1" descr="Örnhagen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958584"/>
            <a:ext cx="393704" cy="420624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1975616" y="71506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Eaglehagen CO₂ Monitor  ·  Basic setup</a:t>
            </a:r>
            <a:endParaRPr lang="en-US" sz="900" dirty="0"/>
          </a:p>
        </p:txBody>
      </p:sp>
      <p:sp>
        <p:nvSpPr>
          <p:cNvPr id="29" name="Text 25"/>
          <p:cNvSpPr txBox="1"/>
          <p:nvPr/>
        </p:nvSpPr>
        <p:spPr>
          <a:xfrm>
            <a:off x="9226296" y="715060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592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something is wrong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9592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common situations and what to do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9592056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6483096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4D7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to 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4D7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84D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Screen stays dark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the +12 V supply and the power lead to the board.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84D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Stuck on “Connecting sensor”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 continues after 10 s. If no values appear, check the analyser’s power and serial cable.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84D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Flat CO₂ line, no values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the sample line connected and the PUMP badge green? Try Start Pump.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84D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CO₂ reads high with no breath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Zero Calibration with room air in the sample line.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84D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OCCL or LEAK badge red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Kinked, wet or loose sample line, or a full water trap. Fix, then Start Pump.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84D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EAGLEHAGEN network missing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Wait for the main screen, move closer, or switch the device off and on.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84D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 page does not load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the phone still on EAGLEHAGEN? Allow it to stay on a network without internet. Try http://192.168.4.1.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84D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LabVIEW gets no or garbled data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Data-capable USB cable? Correct COM port? Screen must show “Out: LabVIEW”.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84D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 monitor page cannot connect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 LabVIEW (only one program per port). Use Chrome or Edge.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1079504" y="715060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Teknosofen</a:t>
            </a:r>
            <a:endParaRPr lang="en-US" sz="1000" dirty="0"/>
          </a:p>
        </p:txBody>
      </p:sp>
      <p:pic>
        <p:nvPicPr>
          <p:cNvPr id="6" name="Image 0" descr="Örnhagen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958584"/>
            <a:ext cx="393704" cy="42062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975616" y="71506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Eaglehagen CO₂ Monitor  ·  Basic setup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9226296" y="715060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592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reference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9592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this page next to the monitor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192274" cy="2103120"/>
          </a:xfrm>
          <a:prstGeom prst="roundRect">
            <a:avLst>
              <a:gd name="adj" fmla="val 5217"/>
            </a:avLst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920240"/>
            <a:ext cx="18265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WiFi network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377440"/>
            <a:ext cx="182651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EAGLEHAGEN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200400"/>
            <a:ext cx="1826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password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015234" y="1691640"/>
            <a:ext cx="2192274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CBD5D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198114" y="1920240"/>
            <a:ext cx="18265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address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198114" y="2377440"/>
            <a:ext cx="182651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eaglehagen.local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198114" y="3200400"/>
            <a:ext cx="1826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192.168.4.1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1828" y="1691640"/>
            <a:ext cx="2192274" cy="2103120"/>
          </a:xfrm>
          <a:prstGeom prst="roundRect">
            <a:avLst>
              <a:gd name="adj" fmla="val 5217"/>
            </a:avLst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4708" y="1920240"/>
            <a:ext cx="18265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Button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664708" y="2377440"/>
            <a:ext cx="182651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Restart pump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5664708" y="3200400"/>
            <a:ext cx="1826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the sample pump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948422" y="1691640"/>
            <a:ext cx="2192274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CBD5D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131302" y="1920240"/>
            <a:ext cx="18265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Button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131302" y="2377440"/>
            <a:ext cx="182651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Select output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131302" y="3200400"/>
            <a:ext cx="1826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USB format LabVIEW ⇄ ASCII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114800"/>
            <a:ext cx="2192274" cy="2103120"/>
          </a:xfrm>
          <a:prstGeom prst="roundRect">
            <a:avLst>
              <a:gd name="adj" fmla="val 5217"/>
            </a:avLst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4343400"/>
            <a:ext cx="18265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EtCO₂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4800600"/>
            <a:ext cx="182651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4.5–6.0 kPa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5623560"/>
            <a:ext cx="1826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35–45 mmHg, adult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015234" y="4114800"/>
            <a:ext cx="2192274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CBD5D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198114" y="4343400"/>
            <a:ext cx="18265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air O₂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3198114" y="4800600"/>
            <a:ext cx="182651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20.9 %</a:t>
            </a:r>
            <a:endParaRPr lang="en-US" sz="2400" dirty="0"/>
          </a:p>
        </p:txBody>
      </p:sp>
      <p:sp>
        <p:nvSpPr>
          <p:cNvPr id="27" name="Text 25"/>
          <p:cNvSpPr txBox="1"/>
          <p:nvPr/>
        </p:nvSpPr>
        <p:spPr>
          <a:xfrm>
            <a:off x="3198114" y="5623560"/>
            <a:ext cx="1826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check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1828" y="4114800"/>
            <a:ext cx="2192274" cy="2103120"/>
          </a:xfrm>
          <a:prstGeom prst="roundRect">
            <a:avLst>
              <a:gd name="adj" fmla="val 5217"/>
            </a:avLst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4708" y="4343400"/>
            <a:ext cx="18265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USB serial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5664708" y="4800600"/>
            <a:ext cx="182651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115200 8N1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5664708" y="5623560"/>
            <a:ext cx="1826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 frames per second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948422" y="4114800"/>
            <a:ext cx="2192274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CBD5D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131302" y="4343400"/>
            <a:ext cx="18265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recording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8131302" y="4800600"/>
            <a:ext cx="182651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minutes</a:t>
            </a:r>
            <a:endParaRPr lang="en-US" sz="2400" dirty="0"/>
          </a:p>
        </p:txBody>
      </p:sp>
      <p:sp>
        <p:nvSpPr>
          <p:cNvPr id="35" name="Text 33"/>
          <p:cNvSpPr txBox="1"/>
          <p:nvPr/>
        </p:nvSpPr>
        <p:spPr>
          <a:xfrm>
            <a:off x="8131302" y="5623560"/>
            <a:ext cx="1826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longer: PC monitor page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6492240"/>
            <a:ext cx="9592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Documentation, latest versions and the PC monitor page: </a:t>
            </a:r>
            <a:pPr indent="0" marL="0">
              <a:buNone/>
            </a:pPr>
            <a:r>
              <a:rPr lang="en-US" sz="1300" b="1" u="sng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https://github.com/Teknosofen/EagleHagen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1079504" y="715060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Teknosofen</a:t>
            </a:r>
            <a:endParaRPr lang="en-US" sz="1000" dirty="0"/>
          </a:p>
        </p:txBody>
      </p:sp>
      <p:pic>
        <p:nvPicPr>
          <p:cNvPr id="38" name="Image 0" descr="Örnhagen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958584"/>
            <a:ext cx="393704" cy="420624"/>
          </a:xfrm>
          <a:prstGeom prst="rect">
            <a:avLst/>
          </a:prstGeom>
        </p:spPr>
      </p:pic>
      <p:sp>
        <p:nvSpPr>
          <p:cNvPr id="39" name="Text 36"/>
          <p:cNvSpPr txBox="1"/>
          <p:nvPr/>
        </p:nvSpPr>
        <p:spPr>
          <a:xfrm>
            <a:off x="1975616" y="71506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Eaglehagen CO₂ Monitor  ·  Basic setup</a:t>
            </a:r>
            <a:endParaRPr lang="en-US" sz="900" dirty="0"/>
          </a:p>
        </p:txBody>
      </p:sp>
      <p:sp>
        <p:nvSpPr>
          <p:cNvPr id="40" name="Text 37"/>
          <p:cNvSpPr txBox="1"/>
          <p:nvPr/>
        </p:nvSpPr>
        <p:spPr>
          <a:xfrm>
            <a:off x="9226296" y="715060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Eaglehagen CO2 Monitor - Basic Setup</dc:title>
  <dc:subject>PptxGenJS Presentation</dc:subject>
  <dc:creator>Teknosofen</dc:creator>
  <cp:lastModifiedBy>Teknosofen</cp:lastModifiedBy>
  <cp:revision>1</cp:revision>
  <dcterms:created xsi:type="dcterms:W3CDTF">2026-09-28T20:12:08Z</dcterms:created>
  <dcterms:modified xsi:type="dcterms:W3CDTF">2026-09-28T20:12:08Z</dcterms:modified>
</cp:coreProperties>
</file>