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 CO₂ Monitor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29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setup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guide to getting started with the monitor: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web page, alarms and connection to LabVIEW.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Dr. Örnhagen  ·  September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440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Teknosofen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00062" y="1047902"/>
            <a:ext cx="3015691" cy="5347411"/>
          </a:xfrm>
          <a:prstGeom prst="roundRect">
            <a:avLst>
              <a:gd name="adj" fmla="val 4548"/>
            </a:avLst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86600" y="1234440"/>
            <a:ext cx="2642616" cy="4974336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86600" y="1234440"/>
            <a:ext cx="26426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Ornhagen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9387230" y="1389888"/>
            <a:ext cx="155448" cy="1554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9869" y="1731874"/>
            <a:ext cx="2456078" cy="174101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4204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747522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53739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0166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4829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1928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825246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31463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7890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2553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9652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02970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09187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614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0277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3224174"/>
            <a:ext cx="155448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Waveform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79869" y="3566160"/>
            <a:ext cx="2456078" cy="683971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73138" y="3628339"/>
            <a:ext cx="932688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5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</a:t>
            </a:r>
            <a:endParaRPr lang="en-US" sz="935" dirty="0"/>
          </a:p>
        </p:txBody>
      </p:sp>
      <p:sp>
        <p:nvSpPr>
          <p:cNvPr id="30" name="Text 28"/>
          <p:cNvSpPr txBox="1"/>
          <p:nvPr/>
        </p:nvSpPr>
        <p:spPr>
          <a:xfrm>
            <a:off x="7552944" y="3721608"/>
            <a:ext cx="13990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380" dirty="0"/>
          </a:p>
        </p:txBody>
      </p:sp>
      <p:sp>
        <p:nvSpPr>
          <p:cNvPr id="31" name="Text 29"/>
          <p:cNvSpPr txBox="1"/>
          <p:nvPr/>
        </p:nvSpPr>
        <p:spPr>
          <a:xfrm>
            <a:off x="8951976" y="3814877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kPa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7179869" y="4343400"/>
            <a:ext cx="2456078" cy="683971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73138" y="4405579"/>
            <a:ext cx="932688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5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935" dirty="0"/>
          </a:p>
        </p:txBody>
      </p:sp>
      <p:sp>
        <p:nvSpPr>
          <p:cNvPr id="34" name="Text 32"/>
          <p:cNvSpPr txBox="1"/>
          <p:nvPr/>
        </p:nvSpPr>
        <p:spPr>
          <a:xfrm>
            <a:off x="7552944" y="4498848"/>
            <a:ext cx="13990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2380" dirty="0"/>
          </a:p>
        </p:txBody>
      </p:sp>
      <p:sp>
        <p:nvSpPr>
          <p:cNvPr id="35" name="Text 33"/>
          <p:cNvSpPr txBox="1"/>
          <p:nvPr/>
        </p:nvSpPr>
        <p:spPr>
          <a:xfrm>
            <a:off x="8951976" y="4592117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7179869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79869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019288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19288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858707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58707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242048" y="5524805"/>
            <a:ext cx="2331720" cy="0"/>
          </a:xfrm>
          <a:prstGeom prst="line">
            <a:avLst/>
          </a:prstGeom>
          <a:noFill/>
          <a:ln w="9525">
            <a:solidFill>
              <a:srgbClr val="CBD5D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086600" y="5586984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SSID: EAGLEHAGEN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086600" y="5789066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192.168.4.1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7086600" y="5991149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LabVIEW</a:t>
            </a:r>
            <a:endParaRPr lang="en-US" sz="850" dirty="0"/>
          </a:p>
        </p:txBody>
      </p:sp>
      <p:pic>
        <p:nvPicPr>
          <p:cNvPr id="46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 in four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power-on to live values on your phone or tablet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40280" cy="2743200"/>
          </a:xfrm>
          <a:prstGeom prst="roundRect">
            <a:avLst>
              <a:gd name="adj" fmla="val 4898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sample line, O₂ and volume sensors. Switch on the +12 V supply.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063240" y="1737360"/>
            <a:ext cx="2240280" cy="2743200"/>
          </a:xfrm>
          <a:prstGeom prst="roundRect">
            <a:avLst>
              <a:gd name="adj" fmla="val 4898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918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651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 ~15 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1089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shows “Initializing”, “Connecting sensor”, then “Ready!” and the main screen.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577840" y="1737360"/>
            <a:ext cx="2240280" cy="2743200"/>
          </a:xfrm>
          <a:prstGeom prst="roundRect">
            <a:avLst>
              <a:gd name="adj" fmla="val 4898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064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2651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WiFi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806440" y="31089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phone or tablet, join the network EAGLEHAGEN. There is no password.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8092440" y="1737360"/>
            <a:ext cx="2240280" cy="2743200"/>
          </a:xfrm>
          <a:prstGeom prst="roundRect">
            <a:avLst>
              <a:gd name="adj" fmla="val 4898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21040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6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651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page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1089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browser, go to the web address shown below.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9592056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4983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address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257800"/>
            <a:ext cx="8951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http://eaglehagen.local</a:t>
            </a:r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or     </a:t>
            </a:r>
            <a:pPr indent="0" marL="0">
              <a:buNone/>
            </a:pPr>
            <a:r>
              <a:rPr lang="en-US" sz="26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http://192.168.4.1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263640"/>
            <a:ext cx="9592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PUMP badge is red, press the pump button (IO14) on the device, or tap Start Pump on the web page.</a:t>
            </a:r>
            <a:endParaRPr lang="en-US" sz="1400" dirty="0"/>
          </a:p>
        </p:txBody>
      </p:sp>
      <p:pic>
        <p:nvPicPr>
          <p:cNvPr id="31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079504" y="7150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 CO₂ Monitor  ·  Basic setup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device screen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important is visible without a phone or PC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7669" y="1464869"/>
            <a:ext cx="2926994" cy="5190134"/>
          </a:xfrm>
          <a:prstGeom prst="roundRect">
            <a:avLst>
              <a:gd name="adj" fmla="val 4686"/>
            </a:avLst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1645920"/>
            <a:ext cx="2564892" cy="482803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1645920"/>
            <a:ext cx="2564892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85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Ornhagen</a:t>
            </a:r>
            <a:endParaRPr lang="en-US" sz="1485" dirty="0"/>
          </a:p>
        </p:txBody>
      </p:sp>
      <p:sp>
        <p:nvSpPr>
          <p:cNvPr id="7" name="Shape 5"/>
          <p:cNvSpPr/>
          <p:nvPr/>
        </p:nvSpPr>
        <p:spPr>
          <a:xfrm>
            <a:off x="3421685" y="1796796"/>
            <a:ext cx="150876" cy="150876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9246" y="2128723"/>
            <a:ext cx="2383841" cy="1689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3959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6591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2626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8275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801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9397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32029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38064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3713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8239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4835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07467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13502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9151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3677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339596" y="3577133"/>
            <a:ext cx="1508760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Waveform</a:t>
            </a:r>
            <a:endParaRPr lang="en-US" sz="825" dirty="0"/>
          </a:p>
        </p:txBody>
      </p:sp>
      <p:sp>
        <p:nvSpPr>
          <p:cNvPr id="25" name="Shape 23"/>
          <p:cNvSpPr/>
          <p:nvPr/>
        </p:nvSpPr>
        <p:spPr>
          <a:xfrm>
            <a:off x="1279246" y="3909060"/>
            <a:ext cx="2383841" cy="663854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69771" y="3969410"/>
            <a:ext cx="90525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7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</a:t>
            </a:r>
            <a:endParaRPr lang="en-US" sz="907" dirty="0"/>
          </a:p>
        </p:txBody>
      </p:sp>
      <p:sp>
        <p:nvSpPr>
          <p:cNvPr id="27" name="Text 25"/>
          <p:cNvSpPr txBox="1"/>
          <p:nvPr/>
        </p:nvSpPr>
        <p:spPr>
          <a:xfrm>
            <a:off x="1641348" y="4059936"/>
            <a:ext cx="135788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310" dirty="0"/>
          </a:p>
        </p:txBody>
      </p:sp>
      <p:sp>
        <p:nvSpPr>
          <p:cNvPr id="28" name="Text 26"/>
          <p:cNvSpPr txBox="1"/>
          <p:nvPr/>
        </p:nvSpPr>
        <p:spPr>
          <a:xfrm>
            <a:off x="2999232" y="4150462"/>
            <a:ext cx="603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kPa</a:t>
            </a:r>
            <a:endParaRPr lang="en-US" sz="990" dirty="0"/>
          </a:p>
        </p:txBody>
      </p:sp>
      <p:sp>
        <p:nvSpPr>
          <p:cNvPr id="29" name="Shape 27"/>
          <p:cNvSpPr/>
          <p:nvPr/>
        </p:nvSpPr>
        <p:spPr>
          <a:xfrm>
            <a:off x="1279246" y="4663440"/>
            <a:ext cx="2383841" cy="663854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69771" y="4723790"/>
            <a:ext cx="90525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7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907" dirty="0"/>
          </a:p>
        </p:txBody>
      </p:sp>
      <p:sp>
        <p:nvSpPr>
          <p:cNvPr id="31" name="Text 29"/>
          <p:cNvSpPr txBox="1"/>
          <p:nvPr/>
        </p:nvSpPr>
        <p:spPr>
          <a:xfrm>
            <a:off x="1641348" y="4814316"/>
            <a:ext cx="135788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2310" dirty="0"/>
          </a:p>
        </p:txBody>
      </p:sp>
      <p:sp>
        <p:nvSpPr>
          <p:cNvPr id="32" name="Text 30"/>
          <p:cNvSpPr txBox="1"/>
          <p:nvPr/>
        </p:nvSpPr>
        <p:spPr>
          <a:xfrm>
            <a:off x="2999232" y="4904842"/>
            <a:ext cx="603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990" dirty="0"/>
          </a:p>
        </p:txBody>
      </p:sp>
      <p:sp>
        <p:nvSpPr>
          <p:cNvPr id="33" name="Shape 31"/>
          <p:cNvSpPr/>
          <p:nvPr/>
        </p:nvSpPr>
        <p:spPr>
          <a:xfrm>
            <a:off x="127924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27924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209397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09397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90870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90870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1339596" y="5810098"/>
            <a:ext cx="2263140" cy="0"/>
          </a:xfrm>
          <a:prstGeom prst="line">
            <a:avLst/>
          </a:prstGeom>
          <a:noFill/>
          <a:ln w="9525">
            <a:solidFill>
              <a:srgbClr val="CBD5D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88720" y="5870448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SSID: EAGLEHAGEN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1188720" y="6066587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192.168.4.1</a:t>
            </a:r>
            <a:endParaRPr lang="en-US" sz="825" dirty="0"/>
          </a:p>
        </p:txBody>
      </p:sp>
      <p:sp>
        <p:nvSpPr>
          <p:cNvPr id="42" name="Text 40"/>
          <p:cNvSpPr txBox="1"/>
          <p:nvPr/>
        </p:nvSpPr>
        <p:spPr>
          <a:xfrm>
            <a:off x="1188720" y="6262726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LabVIEW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3982212" y="1872234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0" y="1689354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7760" y="16893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40" dirty="0"/>
          </a:p>
        </p:txBody>
      </p:sp>
      <p:sp>
        <p:nvSpPr>
          <p:cNvPr id="46" name="Text 44"/>
          <p:cNvSpPr txBox="1"/>
          <p:nvPr/>
        </p:nvSpPr>
        <p:spPr>
          <a:xfrm>
            <a:off x="5440680" y="1671066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and WiFi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dot: the WiFi network is on.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982212" y="2973629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37760" y="2790749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937760" y="279074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40" dirty="0"/>
          </a:p>
        </p:txBody>
      </p:sp>
      <p:sp>
        <p:nvSpPr>
          <p:cNvPr id="50" name="Text 48"/>
          <p:cNvSpPr txBox="1"/>
          <p:nvPr/>
        </p:nvSpPr>
        <p:spPr>
          <a:xfrm>
            <a:off x="5440680" y="2772461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waveform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curve of every breath, scaled automatically.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982212" y="4240987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937760" y="4058107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937760" y="405810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40" dirty="0"/>
          </a:p>
        </p:txBody>
      </p:sp>
      <p:sp>
        <p:nvSpPr>
          <p:cNvPr id="54" name="Text 52"/>
          <p:cNvSpPr txBox="1"/>
          <p:nvPr/>
        </p:nvSpPr>
        <p:spPr>
          <a:xfrm>
            <a:off x="5440680" y="4039819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CO₂ value in kPa.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82212" y="4995367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0" y="4812487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937760" y="481248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40" dirty="0"/>
          </a:p>
        </p:txBody>
      </p:sp>
      <p:sp>
        <p:nvSpPr>
          <p:cNvPr id="58" name="Text 56"/>
          <p:cNvSpPr txBox="1"/>
          <p:nvPr/>
        </p:nvSpPr>
        <p:spPr>
          <a:xfrm>
            <a:off x="5440680" y="4794199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 concentration in %.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3982212" y="5568696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0" y="5385816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937760" y="5385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40" dirty="0"/>
          </a:p>
        </p:txBody>
      </p:sp>
      <p:sp>
        <p:nvSpPr>
          <p:cNvPr id="62" name="Text 60"/>
          <p:cNvSpPr txBox="1"/>
          <p:nvPr/>
        </p:nvSpPr>
        <p:spPr>
          <a:xfrm>
            <a:off x="5440680" y="5367528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badges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OK, red = problem. See next page.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3982212" y="6172200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37760" y="5989320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937760" y="5989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40" dirty="0"/>
          </a:p>
        </p:txBody>
      </p:sp>
      <p:sp>
        <p:nvSpPr>
          <p:cNvPr id="66" name="Text 64"/>
          <p:cNvSpPr txBox="1"/>
          <p:nvPr/>
        </p:nvSpPr>
        <p:spPr>
          <a:xfrm>
            <a:off x="5440680" y="5971032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and output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name, web address and the USB format (“Out:”).</a:t>
            </a:r>
            <a:endParaRPr lang="en-US" sz="1400" dirty="0"/>
          </a:p>
        </p:txBody>
      </p:sp>
      <p:pic>
        <p:nvPicPr>
          <p:cNvPr id="67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68" name="Text 65"/>
          <p:cNvSpPr txBox="1"/>
          <p:nvPr/>
        </p:nvSpPr>
        <p:spPr>
          <a:xfrm>
            <a:off x="1079504" y="7150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 CO₂ Monitor  ·  Basic setup</a:t>
            </a:r>
            <a:endParaRPr lang="en-US" sz="900" dirty="0"/>
          </a:p>
        </p:txBody>
      </p:sp>
      <p:sp>
        <p:nvSpPr>
          <p:cNvPr id="69" name="Text 66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Buttons and alarms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buttons on the board, three alarm badges on the screen and web page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423160"/>
            <a:ext cx="548640" cy="548640"/>
          </a:xfrm>
          <a:prstGeom prst="ellipse">
            <a:avLst/>
          </a:prstGeom>
          <a:solidFill>
            <a:srgbClr val="2B2F36"/>
          </a:solidFill>
          <a:ln w="38100">
            <a:solidFill>
              <a:srgbClr val="8A949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button (IO14)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51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sample pump. Use it when the PUMP badge is red.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703320"/>
            <a:ext cx="548640" cy="548640"/>
          </a:xfrm>
          <a:prstGeom prst="ellipse">
            <a:avLst/>
          </a:prstGeom>
          <a:solidFill>
            <a:srgbClr val="2B2F36"/>
          </a:solidFill>
          <a:ln w="38100">
            <a:solidFill>
              <a:srgbClr val="8A949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3566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button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931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USB output between LabVIEW and ASCII (see “Out:”).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4206240" cy="1188720"/>
          </a:xfrm>
          <a:prstGeom prst="roundRect">
            <a:avLst>
              <a:gd name="adj" fmla="val 9231"/>
            </a:avLst>
          </a:prstGeom>
          <a:solidFill>
            <a:srgbClr val="FDF2E9"/>
          </a:solidFill>
          <a:ln w="12700">
            <a:solidFill>
              <a:srgbClr val="B9770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1888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Caution: 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hold BOOT while switching the device on. It then starts in programming mode and the monitor will not run. Just switch off and on again.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6916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 badges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57800" y="214884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0" y="249631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0" y="24963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26771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pump stopped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62432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the pump button or Start Pump on the web page.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257800" y="342900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377647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0" y="377647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354787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in the sample line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390448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sample line and its connectors.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257800" y="470916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505663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0" y="50566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482803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line blocked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518464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kinks, water or a full water trap. Then restart the pump.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57800" y="6035040"/>
            <a:ext cx="4882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green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the analyser is sampling normally.</a:t>
            </a:r>
            <a:endParaRPr lang="en-US" sz="1300" dirty="0"/>
          </a:p>
        </p:txBody>
      </p:sp>
      <p:pic>
        <p:nvPicPr>
          <p:cNvPr id="32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079504" y="7150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 CO₂ Monitor  ·  Basic setup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page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values, charts, pump control and data export on any phone, tablet or laptop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48463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700784"/>
            <a:ext cx="4736592" cy="320040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eaglehagen.local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Örnhagens Monitor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80360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0360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465576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050792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50792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36008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36008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EtCO₂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18488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18488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618488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505456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05456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05456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392424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92424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279392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79392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279392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31520" y="333756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75334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142634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28659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79133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4208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916582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983882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69907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20381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05456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757830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825130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111155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61629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46704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3599078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3666378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952403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02877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87952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4440326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507626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3651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44125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114800" y="337413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(kPa)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31520" y="420624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22960" y="4617720"/>
            <a:ext cx="4206240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114800" y="424281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 (%)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1520" y="507492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5577840"/>
            <a:ext cx="4206240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114800" y="51114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(mL)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31520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Pump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1618488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618488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Cal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505456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505456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CSV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3392424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392424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JSON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279392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279392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5669280" y="169164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Pump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5669280" y="202082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analyser’s sample pump.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669280" y="256032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Calibration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5669280" y="288950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Zeroes the CO₂ reading. Only with room air in the sample line, never with breath.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5669280" y="342900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CSV / JSON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5669280" y="375818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the recorded data (spreadsheet, or for Python/MATLAB).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669280" y="429768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Data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5669280" y="462686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Empties the recording and resets the charts.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0" y="5303520"/>
            <a:ext cx="4471416" cy="1234440"/>
          </a:xfrm>
          <a:prstGeom prst="roundRect">
            <a:avLst>
              <a:gd name="adj" fmla="val 8889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897880" y="5394960"/>
            <a:ext cx="4014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lives in the browser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keeps the last 2 minutes. Save within 2 minutes of an event, and keep the page open: closing or reloading it loses the data.</a:t>
            </a:r>
            <a:endParaRPr lang="en-US" sz="1300" dirty="0"/>
          </a:p>
        </p:txBody>
      </p:sp>
      <p:pic>
        <p:nvPicPr>
          <p:cNvPr id="84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85" name="Text 82"/>
          <p:cNvSpPr txBox="1"/>
          <p:nvPr/>
        </p:nvSpPr>
        <p:spPr>
          <a:xfrm>
            <a:off x="1079504" y="7150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 CO₂ Monitor  ·  Basic setup</a:t>
            </a:r>
            <a:endParaRPr lang="en-US" sz="900" dirty="0"/>
          </a:p>
        </p:txBody>
      </p:sp>
      <p:sp>
        <p:nvSpPr>
          <p:cNvPr id="86" name="Text 83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the LabVIEW PC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LabVIEW program works unchanged, over one USB-C cable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shows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“Out: LabVIEW”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73552" y="2377440"/>
            <a:ext cx="539496" cy="0"/>
          </a:xfrm>
          <a:prstGeom prst="line">
            <a:avLst/>
          </a:prstGeom>
          <a:noFill/>
          <a:ln w="31750">
            <a:solidFill>
              <a:srgbClr val="184D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20116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8620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E8F1F8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8620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115200 baud, 8N1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11112" y="2377440"/>
            <a:ext cx="539496" cy="0"/>
          </a:xfrm>
          <a:prstGeom prst="line">
            <a:avLst/>
          </a:prstGeom>
          <a:noFill/>
          <a:ln w="31750">
            <a:solidFill>
              <a:srgbClr val="184D7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0116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2376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376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LabVIEW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96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10712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monitor’s USB-C port to the PC. Use a data cable, not a charge-only cable.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087368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087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96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69080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the screen shows “Out: LabVIEW”. If it shows “Out: ASCII”, press the BOOT button once.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745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96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4727448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LabVIEW, select the monitor’s COM port (Windows Device Manager → Ports: “USB Serial Device”).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404104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404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96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385816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(restart pump) and F2 (zero CO₂) work as before. The web page can be used at the same time.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172200"/>
            <a:ext cx="9592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format: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lines (CO₂ kPa, O₂ %, RR, volume, status) for Excel, Python or a terminal. Lines starting with # are messages and can be skipped.</a:t>
            </a:r>
            <a:endParaRPr lang="en-US" sz="1200" dirty="0"/>
          </a:p>
        </p:txBody>
      </p:sp>
      <p:pic>
        <p:nvPicPr>
          <p:cNvPr id="30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79504" y="7150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 CO₂ Monitor  ·  Basic setup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something is wrong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situations and what to do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9592056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648309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4D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4D7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stays dark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the +12 V supply and the power lead to the board.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Stuck on “Connecting sensor”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continues after 10 s. If no values appear, check the analyser’s power and serial cable.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CO₂ line, no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sample line connected and the PUMP badge green? Try Start Pump.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 reads high with no breath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Zero Calibration with room air in the sample line.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OCCL or LEAK badge 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Kinked, wet or loose sample line, or a full water trap. Fix, then Start Pump.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EAGLEHAGEN network missing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for the main screen, move closer, or switch the device off and on.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page does not load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phone still on EAGLEHAGEN? Allow it to stay on a network without internet. Try http://192.168.4.1.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LabVIEW gets no or garbled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Data-capable USB cable? Correct COM port? Screen must show “Out: LabVIEW”.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79504" y="7150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 CO₂ Monitor  ·  Basic setup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page next to the monitor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network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password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15234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98114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address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198114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eaglehagen.local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198114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192.168.4.1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1828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4708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button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664708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664708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sample pump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48422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31302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button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1302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LabVIEW ⇄ ASCII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131302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output format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EtCO₂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4.5–6.0 kPa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35–45 mmHg, adult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15234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98114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air O₂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198114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20.9 %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3198114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check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1828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4708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serial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4708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115200 8N1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664708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frames per second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48422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31302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recording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131302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minutes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8131302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as CSV or JSON</a:t>
            </a:r>
            <a:endParaRPr lang="en-US" sz="1200" dirty="0"/>
          </a:p>
        </p:txBody>
      </p:sp>
      <p:pic>
        <p:nvPicPr>
          <p:cNvPr id="36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079504" y="7150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 CO₂ Monitor  ·  Basic setup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Eaglehagen CO2 Monitor - Basic Setup</dc:title>
  <dc:subject>PptxGenJS Presentation</dc:subject>
  <dc:creator>Teknosofen</dc:creator>
  <cp:lastModifiedBy>Teknosofen</cp:lastModifiedBy>
  <cp:revision>1</cp:revision>
  <dcterms:created xsi:type="dcterms:W3CDTF">2026-09-27T08:18:19Z</dcterms:created>
  <dcterms:modified xsi:type="dcterms:W3CDTF">2026-09-27T08:18:19Z</dcterms:modified>
</cp:coreProperties>
</file>